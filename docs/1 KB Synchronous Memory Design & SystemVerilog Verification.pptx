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9" r:id="rId32"/>
    <p:sldId id="286" r:id="rId33"/>
    <p:sldId id="287" r:id="rId34"/>
    <p:sldId id="28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9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9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95425" y="1144803"/>
            <a:ext cx="9201150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 dirty="0">
                <a:solidFill>
                  <a:srgbClr val="0F172A"/>
                </a:solidFill>
                <a:latin typeface="Inter"/>
              </a:rPr>
              <a:t>1 KB Synchronous Memory Design</a:t>
            </a:r>
            <a:r>
              <a:rPr dirty="0"/>
              <a:t>
</a:t>
            </a:r>
            <a:r>
              <a:rPr sz="4200" b="1" i="0" u="none" dirty="0">
                <a:solidFill>
                  <a:srgbClr val="0F172A"/>
                </a:solidFill>
                <a:latin typeface="Inter"/>
              </a:rPr>
              <a:t> &amp; </a:t>
            </a:r>
            <a:r>
              <a:rPr sz="4200" b="1" i="0" u="none" dirty="0" err="1">
                <a:solidFill>
                  <a:srgbClr val="0F172A"/>
                </a:solidFill>
                <a:latin typeface="Inter"/>
              </a:rPr>
              <a:t>SystemVerilog</a:t>
            </a:r>
            <a:r>
              <a:rPr sz="4200" b="1" i="0" u="none" dirty="0">
                <a:solidFill>
                  <a:srgbClr val="0F172A"/>
                </a:solidFill>
                <a:latin typeface="Inter"/>
              </a:rPr>
              <a:t>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7957" y="3279959"/>
            <a:ext cx="85725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64748B"/>
                </a:solidFill>
                <a:latin typeface="Inter"/>
              </a:rPr>
              <a:t>Comprehensive RTL Implementation, Class-Based Verification Environment, Assertion Checking, and </a:t>
            </a:r>
            <a:r>
              <a:rPr sz="1650" b="0" i="0" u="none" dirty="0" err="1">
                <a:solidFill>
                  <a:srgbClr val="64748B"/>
                </a:solidFill>
                <a:latin typeface="Inter"/>
              </a:rPr>
              <a:t>QuestaSim</a:t>
            </a:r>
            <a:r>
              <a:rPr sz="1650" b="0" i="0" u="none" dirty="0">
                <a:solidFill>
                  <a:srgbClr val="64748B"/>
                </a:solidFill>
                <a:latin typeface="Inter"/>
              </a:rPr>
              <a:t>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AB7650-3C63-D364-4F76-FE765A800241}"/>
              </a:ext>
            </a:extLst>
          </p:cNvPr>
          <p:cNvSpPr txBox="1"/>
          <p:nvPr/>
        </p:nvSpPr>
        <p:spPr>
          <a:xfrm>
            <a:off x="3004073" y="4907810"/>
            <a:ext cx="6180268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spcBef>
                <a:spcPts val="1875"/>
              </a:spcBef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Presented by: </a:t>
            </a:r>
            <a:r>
              <a:rPr lang="en-IN" b="1" dirty="0"/>
              <a:t>AKASH K</a:t>
            </a:r>
            <a:endParaRPr lang="en-IN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ctr">
              <a:spcBef>
                <a:spcPts val="375"/>
              </a:spcBef>
              <a:buNone/>
            </a:pPr>
            <a:r>
              <a:rPr lang="en-IN" dirty="0"/>
              <a:t>Electronics &amp; Communication Engineering</a:t>
            </a:r>
            <a:endParaRPr lang="en-IN" b="0" i="0" dirty="0">
              <a:solidFill>
                <a:srgbClr val="64748B"/>
              </a:solidFill>
              <a:effectLst/>
              <a:latin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33687"/>
            <a:ext cx="5334000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240893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Design Target: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High-performance single-port synchronous random access memory (RAM).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10991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Storage Capacity: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1 Kilobyte (1 KB) total memory structured as 256 words by 32 bits per word.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10892"/>
            <a:ext cx="50482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Verification Architecture: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Robust class-based SystemVerilog testbench featuring mailboxes, scoreboards, and automated checking.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786163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Signoff &amp; Simulation: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Validated through extensive test vectors and code/functional coverage closure in QuestaSim.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071812"/>
            <a:ext cx="5100637" cy="2286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Key Specifications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414712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Memory Architecture: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Single Port Synchronous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757612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Addressing: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8-bit Address Bus (256 depth)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100512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Data Bus: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32-bit Bidirectional/Isolated Read-Write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443412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Verification Approach: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Directed + Constrained Random Stimulus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090862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42269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43250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44230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819501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8437"/>
            <a:ext cx="3530500" cy="2266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738437"/>
            <a:ext cx="3530649" cy="2266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738437"/>
            <a:ext cx="3530500" cy="2266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Project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625" y="3509962"/>
            <a:ext cx="32069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RTL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52862"/>
            <a:ext cx="3054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Develop a fully synthesizable, clean, and bug-free Verilog memory model adhering to strict synchronous read/write protocols.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725" y="3509962"/>
            <a:ext cx="32071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Modular Testbench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725" y="3852862"/>
            <a:ext cx="30543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Build a scalable class-based verification infrastructure supporting automated transaction generation, BFM conversion, and scoreboarding.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7975" y="3509962"/>
            <a:ext cx="32069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Coverage &amp; Assertions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7975" y="3852862"/>
            <a:ext cx="3054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Achieve complete functional and code coverage closure while enforcing protocol compliance using SystemVerilog Assertions (SVA).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005137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725" y="3005137"/>
            <a:ext cx="3810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7975" y="3005137"/>
            <a:ext cx="2667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Memory Specification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2001589"/>
            <a:ext cx="11049000" cy="374064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001589"/>
          <a:ext cx="11039474" cy="3740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1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37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Specification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Architectural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37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Memory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 KB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Total byte-addressable capacity equal to 1024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37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Data Width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32 bits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Word-oriented data bus width for read and write operations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37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Depth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256 words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Total number of individually addressable storage locations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37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Address Width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8 bits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Log2(256) address lines supporting range 8'h00 to 8'hFF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37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Single 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Shared read/write access port operating under synchronous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37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Read / Write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Synchronous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All memory access operations synchronized with system clock edge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6262" y="2516832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26655" y="2516832"/>
            <a:ext cx="2177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4159" y="2516832"/>
            <a:ext cx="6911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052018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26655" y="3052018"/>
            <a:ext cx="2177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4159" y="3052018"/>
            <a:ext cx="6911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262" y="3587204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26655" y="3587204"/>
            <a:ext cx="2177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04159" y="3587204"/>
            <a:ext cx="6911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262" y="4122390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26655" y="4122390"/>
            <a:ext cx="2177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4159" y="4122390"/>
            <a:ext cx="6911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262" y="4657576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26655" y="4657576"/>
            <a:ext cx="2177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04159" y="4657576"/>
            <a:ext cx="6911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6262" y="5192762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26655" y="5192762"/>
            <a:ext cx="2177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4159" y="5192762"/>
            <a:ext cx="6911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8912"/>
            <a:ext cx="11049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7" y="3033712"/>
            <a:ext cx="1524000" cy="1676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887" y="2967037"/>
            <a:ext cx="4762500" cy="1809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7837" y="3414712"/>
            <a:ext cx="1609725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Memory RTL Architecture Block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2087" y="3167062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DUT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2087" y="3433762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• clk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2087" y="3624262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• 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2087" y="3814762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• 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2087" y="4005262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• wr_rd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2087" y="4195762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• addr [7:0]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2087" y="4386262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• wdata [31:0]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5706" y="3643312"/>
            <a:ext cx="552450" cy="6138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76687" y="3271837"/>
            <a:ext cx="4152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D4ED8"/>
                </a:solidFill>
                <a:latin typeface="Inter SemiBold"/>
              </a:rPr>
              <a:t>MEMORY DUT (memory.v)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6687" y="3595687"/>
            <a:ext cx="4152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256 Words × 32-bit Array (8192 bits = 1 KB)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9652" y="3709986"/>
            <a:ext cx="432435" cy="4804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15487" y="3548062"/>
            <a:ext cx="11144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Inter"/>
              </a:rPr>
              <a:t>DUT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5487" y="3814762"/>
            <a:ext cx="11144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• rdata [31:0]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5487" y="4005262"/>
            <a:ext cx="11144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 SemiBold"/>
              </a:rPr>
              <a:t>• ready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1799" y="3919854"/>
            <a:ext cx="1358651" cy="571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2225" y="3919854"/>
            <a:ext cx="131117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081337"/>
            <a:ext cx="5334000" cy="1581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Detailed Internal Memory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2896641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Memory Array Storage: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Declared as an internal register array `reg [31:0] mem [255:0];`.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59762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Synchronous Operation: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Clock-edge triggered state transitions ensure hazard-free read/write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29860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Handshake Signaling: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The `ready` output flag pulses or holds high to indicate successful transaction completion.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29979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30959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3194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DUT Port Interface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1466403"/>
            <a:ext cx="11049000" cy="481101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1466403"/>
          <a:ext cx="11039472" cy="4811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9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55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Port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Direction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Width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Description /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55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clk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Master system clock driving all synchronous elements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55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rst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Active-high or synchronous reset for initialization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55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valid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Qualifies transaction request validity from master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55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wr_rd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Command select: High for Write, Low for Read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55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addr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8 bits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Selects target word location within the 256-word array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55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wdata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32 bits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Input data bus latched into memory during write cycles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55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rdata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32 bits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Driven data bus output containing fetched word values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561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ready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Handshake response confirming transaction service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6262" y="1981646"/>
            <a:ext cx="1640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16497" y="1981646"/>
            <a:ext cx="1497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13708" y="1981646"/>
            <a:ext cx="1293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06726" y="1981646"/>
            <a:ext cx="660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2516832"/>
            <a:ext cx="1640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16497" y="2516832"/>
            <a:ext cx="1497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13708" y="2516832"/>
            <a:ext cx="1293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06726" y="2516832"/>
            <a:ext cx="660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262" y="3052018"/>
            <a:ext cx="1640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16497" y="3052018"/>
            <a:ext cx="1497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13708" y="3052018"/>
            <a:ext cx="1293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06726" y="3052018"/>
            <a:ext cx="660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262" y="3587204"/>
            <a:ext cx="1640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16497" y="3587204"/>
            <a:ext cx="1497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713708" y="3587204"/>
            <a:ext cx="1293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06726" y="3587204"/>
            <a:ext cx="660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262" y="4122390"/>
            <a:ext cx="1640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16497" y="4122390"/>
            <a:ext cx="1497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713708" y="4122390"/>
            <a:ext cx="1293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06726" y="4122390"/>
            <a:ext cx="660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262" y="4657576"/>
            <a:ext cx="1640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16497" y="4657576"/>
            <a:ext cx="1497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713708" y="4657576"/>
            <a:ext cx="1293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06726" y="4657576"/>
            <a:ext cx="660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262" y="5192762"/>
            <a:ext cx="1640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216497" y="5192762"/>
            <a:ext cx="1497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713708" y="5192762"/>
            <a:ext cx="1293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06726" y="5192762"/>
            <a:ext cx="660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6262" y="5727948"/>
            <a:ext cx="1640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216497" y="5727948"/>
            <a:ext cx="14972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713708" y="5727948"/>
            <a:ext cx="1293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06726" y="5727948"/>
            <a:ext cx="660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05137"/>
            <a:ext cx="3530500" cy="1733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3005137"/>
            <a:ext cx="3530649" cy="1733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850" y="3005137"/>
            <a:ext cx="3530500" cy="1733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Signal Protocol &amp; Timing Behavior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625" y="3243262"/>
            <a:ext cx="32069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Control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86162"/>
            <a:ext cx="3054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valid and wr_rd work in tandem. When valid is asserted, the memory inspects wr_rd on the active clock edge to determine whether to store or retrieve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725" y="3243262"/>
            <a:ext cx="32071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Address &amp; Data Buses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725" y="3586162"/>
            <a:ext cx="30543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The 8-bit address bus allows direct access across 256 unique slots. Data buses operate on full 32-bit words, eliminating byte-lane masking complexities.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7975" y="3243262"/>
            <a:ext cx="32069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Response Handshake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7975" y="3586162"/>
            <a:ext cx="3054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The ready signal provides deterministic feedback, allowing testbench verification components and external masters to track cycle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28900"/>
            <a:ext cx="5334000" cy="2486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2876550"/>
            <a:ext cx="48387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476625"/>
            <a:ext cx="48387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4410075"/>
            <a:ext cx="48387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Memory Addressing &amp; Word Organization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50" y="2896641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Address Range: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Spans from `8'h00` (Lower boundary) to `8'hFF` (Upper boundary).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59762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Word Granularity: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Each address index maps to an indivisible 32-bit register 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29860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Capacity Calculation: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256 words × 32 bits = 8192 bits = 1024 bytes = 1 KB.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4450" y="4076700"/>
            <a:ext cx="381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 SemiBold"/>
              </a:rPr>
              <a:t>⋮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29979"/>
            <a:ext cx="1238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30959"/>
            <a:ext cx="21907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331940"/>
            <a:ext cx="1428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28057"/>
            <a:ext cx="11049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275707"/>
            <a:ext cx="2183308" cy="647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658" y="3275707"/>
            <a:ext cx="2081510" cy="647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368" y="3275707"/>
            <a:ext cx="2095202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0771" y="3275707"/>
            <a:ext cx="2822078" cy="647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Write Operation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" y="4456807"/>
            <a:ext cx="1104900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64748B"/>
                </a:solidFill>
                <a:latin typeface="Inter"/>
              </a:rPr>
              <a:t>During a write cycle, data present on the wdata bus is safely written into the targeted memory array index on the positive clock edge.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5333" y="3504307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4043" y="3504307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6446" y="3504307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98576"/>
            <a:ext cx="11049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146226"/>
            <a:ext cx="2238672" cy="647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022" y="3146226"/>
            <a:ext cx="2133600" cy="647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822" y="3146226"/>
            <a:ext cx="2368004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1026" y="3146226"/>
            <a:ext cx="2441823" cy="647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Read Operation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" y="4327326"/>
            <a:ext cx="110490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64748B"/>
                </a:solidFill>
                <a:latin typeface="Inter"/>
              </a:rPr>
              <a:t>Synchronous read operations fetch the stored word at the requested address and present it on the rdata bus alongside an active ready handshake.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697" y="3374826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497" y="3374826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6701" y="3374826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119437"/>
            <a:ext cx="5334000" cy="1504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Reset Operation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2896641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Asynchronous/Synchronous Reset: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Driven via the active signal `rst`.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59762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Output Clearing: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Forces output data bus `rdata` to `32'h0` and resets the `ready` handshake flag to `1'b0`.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29860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Deterministic State: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Guarantees clean initialization prior to test stimulus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357562"/>
            <a:ext cx="5100637" cy="2286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Inter"/>
              </a:rPr>
              <a:t>Reset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700462"/>
            <a:ext cx="4857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7F1D1D"/>
                </a:solidFill>
                <a:latin typeface="Inter"/>
              </a:rPr>
              <a:t>While control registers and output staging are cleared during reset, the underlying RAM cell storage array contents remain intact unless explicitly overwritten by write operations.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376612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29979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30959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575"/>
            <a:ext cx="12192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Memory State &amp; Working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E77AE7-49F2-6323-5773-FBD40CA02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124" y="1409700"/>
            <a:ext cx="6647727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574726"/>
            <a:ext cx="1143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5393" y="2850951"/>
            <a:ext cx="970121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0F172A"/>
                </a:solidFill>
                <a:latin typeface="Inter"/>
              </a:rPr>
              <a:t>SystemVerilog Verification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612951"/>
            <a:ext cx="66675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Transitioning from RTL design to advanced class-based verification methodology.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SystemVerilog Testbench Hierarchy (`mem_tb`)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B61CF9-46DD-2DB6-8D42-87BE74F313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01" r="14953"/>
          <a:stretch>
            <a:fillRect/>
          </a:stretch>
        </p:blipFill>
        <p:spPr>
          <a:xfrm>
            <a:off x="2604304" y="1200150"/>
            <a:ext cx="6910086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119437"/>
            <a:ext cx="5334000" cy="1504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Test Controller: `mem_test`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2896641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Test Orchestration: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Instantiates the top-level verification environment (`mem_env`).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59762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Configuration Management: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Sets test parameters, simulation durations, and stimulus seed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29860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Execution Control: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Triggers test sequences (e.g., address sweep, boundary tests) and monitors completion.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357562"/>
            <a:ext cx="51006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Purpose &amp;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700462"/>
            <a:ext cx="4857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mem_test acts as the brain of the verification suite, ensuring that individual test scenarios execute cleanly and report pass/fail status to the simulation log.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29979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30959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31940"/>
            <a:ext cx="1428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381375"/>
            <a:ext cx="5334000" cy="981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Environment Container: `mem_env`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2896641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Component Integration: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Encapsulates the verification agent (`mem_agent`) and scoreboard (`mem_sbd`).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59762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Inter-Component Wiring: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Connects monitor broadcast channels to the scoreboard and coverage collector.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29860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Modular Design: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Ensures clean separation of stimulus generation, driving, monitoring, and checking.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29979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30959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31940"/>
            <a:ext cx="2190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2307"/>
            <a:ext cx="11049000" cy="1762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980432"/>
            <a:ext cx="3810000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809107"/>
            <a:ext cx="2500312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437" y="3809107"/>
            <a:ext cx="2500312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809107"/>
            <a:ext cx="2500312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2062" y="3809107"/>
            <a:ext cx="2500312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Verification Agent: `mem_agent`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4742557"/>
            <a:ext cx="1104900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64748B"/>
                </a:solidFill>
                <a:latin typeface="Inter"/>
              </a:rPr>
              <a:t>The agent packages all interface-level verification components into a cohesive, reusable unit connected directly to the virtual interface.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381375"/>
            <a:ext cx="5334000" cy="981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Transaction Object: `mem_tx`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324713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Data Packet Structure: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Represents a single bus operation with randomized or directed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4811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Randomization Support: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Includes constraint blocks for valid address distributions and data patterns.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80469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145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33737"/>
            <a:ext cx="5334000" cy="1276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Stimulus Generator: `mem_gen`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324713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Transaction Creation: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Instantiates and randomizes `mem_tx` transaction objects.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4811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Mailbox Communication: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Passes generated stimulus packets safely to the BFM via SystemVerilog mailboxes.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471862"/>
            <a:ext cx="51006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Mailbox Synchronization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814762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The generator uses blocking mailbox::put() calls to synchronize stimulus flow, preventing driver starvation or buffer overflows.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80469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1450"/>
            <a:ext cx="238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81362"/>
            <a:ext cx="5334000" cy="1181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Bus Functional Model (BFM / Driver): `mem_bfm`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324713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Protocol Translation: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Converts abstract transaction objects into cycle-accurate pin-level wiggles.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4811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Clocking Block Compliance: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Drives signals respecting setup and hold times across the virtual interface.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80469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145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181350"/>
            <a:ext cx="5334000" cy="138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Interface &amp; Clocking Blocks: `mem_interf`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324713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Signal Bundling: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Groups physical DUT wires into a clean interface construct.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4811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Race Prevention: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Utilizes clocking blocks with skew definitions to eliminate testbench-DUT race conditions.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80469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145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119437"/>
            <a:ext cx="5334000" cy="1504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DUT Monitor: `mem_mon`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310991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Bus Snooping: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Continuously samples physical interface signals during active transaction windows.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810892"/>
            <a:ext cx="50482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Transaction Reconstruction: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Reconstructs bus activity into transaction objects and broadcasts them to the scoreboard and coverage collector.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357562"/>
            <a:ext cx="51006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Observation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700462"/>
            <a:ext cx="4857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The monitor is purely passive; it does not drive signals, ensuring that verification observations remain completely non-intrusive to DUT execution.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4325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44230"/>
            <a:ext cx="2190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3637"/>
            <a:ext cx="11049000" cy="2876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787" y="2671762"/>
            <a:ext cx="2638425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6187" y="3643312"/>
            <a:ext cx="4619625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4712" y="4614862"/>
            <a:ext cx="23431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8862" y="4614862"/>
            <a:ext cx="2638425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Scoreboard Architecture: `mem_sbd`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562" y="3290887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562" y="4262437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81362"/>
            <a:ext cx="5334000" cy="1181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Functional Coverage: `mem_cov`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324713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Coverage Model: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Samples address bins, write/read operations, and data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48112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Cross Coverage: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Evaluates correlations between operation type (`wr_rd`) and target address ranges.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80469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145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3637"/>
            <a:ext cx="11049000" cy="2876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825" y="2671762"/>
            <a:ext cx="203835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587" y="3643312"/>
            <a:ext cx="5076825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475" y="4614862"/>
            <a:ext cx="17907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175" y="4614862"/>
            <a:ext cx="31813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SystemVerilog Assertions (`mem_assert`)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562" y="3290887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562" y="4262437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47812"/>
            <a:ext cx="11049000" cy="464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1795462"/>
            <a:ext cx="333375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2671762"/>
            <a:ext cx="33337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25" y="3548062"/>
            <a:ext cx="33337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25" y="4424362"/>
            <a:ext cx="33337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125" y="5300662"/>
            <a:ext cx="3333750" cy="647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Complete Verification Transaction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4562" y="2366962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4562" y="3243262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4562" y="4119562"/>
            <a:ext cx="1428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4562" y="4995862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Executed Test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2018853"/>
            <a:ext cx="11049000" cy="370611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018853"/>
          <a:ext cx="11039473" cy="3706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8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122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Test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Stimulus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Expected Behavior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223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addr_sweep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Full memory depth validation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Sequential writes and reads across addresses 00h to FFh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Zero scoreboarding mismatches across all 256 words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223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boundary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Upper/lower limit checking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Targeted access to index 00h and FFh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Accurate data retention at extreme boundaries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223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unwritten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Uninitialized read behavior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Reading unwritten memory slots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Predictable default or zero read outputs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225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nwr_nrd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Idle / disabled validation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Transactions with valid =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DUT state remains static with no unintended writes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6262" y="2534096"/>
            <a:ext cx="13576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33872" y="2534096"/>
            <a:ext cx="2226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341" y="2534096"/>
            <a:ext cx="3816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76889" y="2534096"/>
            <a:ext cx="36388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3328243"/>
            <a:ext cx="13576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33872" y="3328243"/>
            <a:ext cx="2226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341" y="3328243"/>
            <a:ext cx="3816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76889" y="3328243"/>
            <a:ext cx="36388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262" y="4122390"/>
            <a:ext cx="13576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33872" y="4122390"/>
            <a:ext cx="2226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0341" y="4122390"/>
            <a:ext cx="3816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76889" y="4122390"/>
            <a:ext cx="36388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262" y="4916537"/>
            <a:ext cx="13576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33872" y="4916537"/>
            <a:ext cx="2226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60341" y="4916537"/>
            <a:ext cx="3816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76889" y="4916537"/>
            <a:ext cx="36388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15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Coverage Results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2284860"/>
            <a:ext cx="50482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Functional Coverage: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100% bin coverage achieved across all address segments, read/write opcodes, and cross combinations.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260130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Statement Coverage: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1350" dirty="0">
                <a:solidFill>
                  <a:srgbClr val="475569"/>
                </a:solidFill>
                <a:latin typeface="Inter"/>
              </a:rPr>
              <a:t>100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% execution path validation across all procedural RTL blocks.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61111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Toggle &amp; Branch: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1350" dirty="0">
                <a:solidFill>
                  <a:srgbClr val="475569"/>
                </a:solidFill>
                <a:latin typeface="Inter"/>
              </a:rPr>
              <a:t>100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% toggle and branch coverage verified in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QuestaSim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database logs.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8197"/>
            <a:ext cx="2190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93468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94448"/>
            <a:ext cx="238125" cy="200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196B9E-86E3-13E8-C529-1B1018FC9D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1037" r="27006" b="-1037"/>
          <a:stretch>
            <a:fillRect/>
          </a:stretch>
        </p:blipFill>
        <p:spPr>
          <a:xfrm>
            <a:off x="5699325" y="2233192"/>
            <a:ext cx="6423950" cy="3280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 dirty="0" err="1">
                <a:solidFill>
                  <a:srgbClr val="1E293B"/>
                </a:solidFill>
                <a:latin typeface="Inter SemiBold"/>
              </a:rPr>
              <a:t>QuestaSim</a:t>
            </a:r>
            <a:r>
              <a:rPr sz="2850" b="0" i="0" u="none" dirty="0">
                <a:solidFill>
                  <a:srgbClr val="1E293B"/>
                </a:solidFill>
                <a:latin typeface="Inter SemiBold"/>
              </a:rPr>
              <a:t> Assertion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2461731"/>
            <a:ext cx="5048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Zero Failures: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All SVA assertion properties passed cleanly without protocol violations.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162711"/>
            <a:ext cx="50482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Timing Verification: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Confirmed correct clock alignment, valid qualification, and ready handshake response across write/read transactions.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5069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77017CFF-41A2-0581-E289-E0259BB10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3" y="3214627"/>
            <a:ext cx="190500" cy="200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3AAD25-2E56-691C-2E1D-CD0B468F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013" b="32349"/>
          <a:stretch>
            <a:fillRect/>
          </a:stretch>
        </p:blipFill>
        <p:spPr>
          <a:xfrm>
            <a:off x="5717894" y="1772310"/>
            <a:ext cx="6215605" cy="3571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70E7F-B7DF-001B-E5A5-2DE28A38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91749F2-CD79-9183-05F7-D70B91244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FCCBBB-1B41-6C39-20E7-3F82B6B3222F}"/>
              </a:ext>
            </a:extLst>
          </p:cNvPr>
          <p:cNvSpPr txBox="1"/>
          <p:nvPr/>
        </p:nvSpPr>
        <p:spPr>
          <a:xfrm>
            <a:off x="571500" y="476250"/>
            <a:ext cx="116014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 dirty="0" err="1">
                <a:solidFill>
                  <a:srgbClr val="1E293B"/>
                </a:solidFill>
                <a:latin typeface="Inter SemiBold"/>
              </a:rPr>
              <a:t>QuestaSim</a:t>
            </a:r>
            <a:r>
              <a:rPr sz="2850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lang="en-IN" sz="2850" b="0" i="0" u="none" dirty="0">
                <a:solidFill>
                  <a:srgbClr val="1E293B"/>
                </a:solidFill>
                <a:latin typeface="Inter SemiBold"/>
              </a:rPr>
              <a:t>Output </a:t>
            </a:r>
            <a:r>
              <a:rPr sz="2850" b="0" i="0" u="none" dirty="0">
                <a:solidFill>
                  <a:srgbClr val="1E293B"/>
                </a:solidFill>
                <a:latin typeface="Inter SemiBold"/>
              </a:rPr>
              <a:t>Waveform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A84F9-3641-30C3-62B8-E48F66784498}"/>
              </a:ext>
            </a:extLst>
          </p:cNvPr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B9900-FBFE-62C3-1841-098E0E365DDC}"/>
              </a:ext>
            </a:extLst>
          </p:cNvPr>
          <p:cNvSpPr txBox="1"/>
          <p:nvPr/>
        </p:nvSpPr>
        <p:spPr>
          <a:xfrm>
            <a:off x="857250" y="3109912"/>
            <a:ext cx="5048250" cy="2232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350" b="0" i="0" u="none" dirty="0">
                <a:solidFill>
                  <a:srgbClr val="475569"/>
                </a:solidFill>
                <a:latin typeface="Inter"/>
              </a:rPr>
              <a:t>Read/Write Verification: Successfully verified memory read and write operations. </a:t>
            </a:r>
          </a:p>
          <a:p>
            <a:pPr algn="l">
              <a:lnSpc>
                <a:spcPts val="2160"/>
              </a:lnSpc>
            </a:pPr>
            <a:endParaRPr lang="en-US" sz="1350" b="0" i="0" u="none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2160"/>
              </a:lnSpc>
            </a:pPr>
            <a:r>
              <a:rPr lang="en-US" sz="1350" b="0" i="0" u="none" dirty="0">
                <a:solidFill>
                  <a:srgbClr val="475569"/>
                </a:solidFill>
                <a:latin typeface="Inter"/>
              </a:rPr>
              <a:t>Signal Timing: Confirmed correct clk, valid, </a:t>
            </a:r>
            <a:r>
              <a:rPr lang="en-US" sz="1350" b="0" i="0" u="none" dirty="0" err="1">
                <a:solidFill>
                  <a:srgbClr val="475569"/>
                </a:solidFill>
                <a:latin typeface="Inter"/>
              </a:rPr>
              <a:t>wr_rd</a:t>
            </a:r>
            <a:r>
              <a:rPr lang="en-US" sz="135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lang="en-US" sz="1350" b="0" i="0" u="none" dirty="0" err="1">
                <a:solidFill>
                  <a:srgbClr val="475569"/>
                </a:solidFill>
                <a:latin typeface="Inter"/>
              </a:rPr>
              <a:t>addr</a:t>
            </a:r>
            <a:r>
              <a:rPr lang="en-US" sz="1350" b="0" i="0" u="none" dirty="0">
                <a:solidFill>
                  <a:srgbClr val="475569"/>
                </a:solidFill>
                <a:latin typeface="Inter"/>
              </a:rPr>
              <a:t>, and ready behavior. </a:t>
            </a:r>
          </a:p>
          <a:p>
            <a:pPr algn="l">
              <a:lnSpc>
                <a:spcPts val="2160"/>
              </a:lnSpc>
            </a:pPr>
            <a:endParaRPr lang="en-US" sz="1350" b="0" i="0" u="none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2160"/>
              </a:lnSpc>
            </a:pPr>
            <a:r>
              <a:rPr lang="en-US" sz="1350" b="0" i="0" u="none" dirty="0">
                <a:solidFill>
                  <a:srgbClr val="475569"/>
                </a:solidFill>
                <a:latin typeface="Inter"/>
              </a:rPr>
              <a:t>Data Integrity: Verified correct </a:t>
            </a:r>
            <a:r>
              <a:rPr lang="en-US" sz="1350" b="0" i="0" u="none" dirty="0" err="1">
                <a:solidFill>
                  <a:srgbClr val="475569"/>
                </a:solidFill>
                <a:latin typeface="Inter"/>
              </a:rPr>
              <a:t>wdata</a:t>
            </a:r>
            <a:r>
              <a:rPr lang="en-US" sz="1350" b="0" i="0" u="none" dirty="0">
                <a:solidFill>
                  <a:srgbClr val="475569"/>
                </a:solidFill>
                <a:latin typeface="Inter"/>
              </a:rPr>
              <a:t> and </a:t>
            </a:r>
            <a:r>
              <a:rPr lang="en-US" sz="1350" b="0" i="0" u="none" dirty="0" err="1">
                <a:solidFill>
                  <a:srgbClr val="475569"/>
                </a:solidFill>
                <a:latin typeface="Inter"/>
              </a:rPr>
              <a:t>rdata</a:t>
            </a:r>
            <a:r>
              <a:rPr lang="en-US" sz="1350" b="0" i="0" u="none" dirty="0">
                <a:solidFill>
                  <a:srgbClr val="475569"/>
                </a:solidFill>
                <a:latin typeface="Inter"/>
              </a:rPr>
              <a:t> during transactions. </a:t>
            </a:r>
          </a:p>
          <a:p>
            <a:pPr algn="l">
              <a:lnSpc>
                <a:spcPts val="2160"/>
              </a:lnSpc>
            </a:pPr>
            <a:endParaRPr sz="135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43406534-8EC4-D1B5-CCAF-6008DC02F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325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5ADF8319-667E-6FA2-51E3-0BE86411A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33" y="3984149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B29F77E0-8AF4-8E70-F51D-B8F35DEC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23" y="4846559"/>
            <a:ext cx="190500" cy="200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C3B38F-D107-36A9-2BBB-0E13C0FAB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217432"/>
            <a:ext cx="6175338" cy="3010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898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95625"/>
            <a:ext cx="11049000" cy="1552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7" y="3343275"/>
            <a:ext cx="1724025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812" y="3343275"/>
            <a:ext cx="2162175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137" y="3343275"/>
            <a:ext cx="17526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5887" y="3343275"/>
            <a:ext cx="1781175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3943350"/>
            <a:ext cx="29718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Verification Flow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7512" y="3476625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8837" y="3476625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0587" y="3476625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0912" y="3476625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19437"/>
            <a:ext cx="2619375" cy="1504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3119437"/>
            <a:ext cx="2619375" cy="1504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3119437"/>
            <a:ext cx="2619375" cy="1504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3119437"/>
            <a:ext cx="2619375" cy="1504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Project Results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625" y="3357562"/>
            <a:ext cx="22502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RTL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700462"/>
            <a:ext cx="21431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1 KB Synchronous Memory (256 × 32) successfully synthesized and verified.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0" y="3357562"/>
            <a:ext cx="22502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Testbench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700462"/>
            <a:ext cx="21431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Modular class-based architecture with scoreboard and functional coverage.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357562"/>
            <a:ext cx="22502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Assertions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700462"/>
            <a:ext cx="21431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SystemVerilog Assertions validating protocol integrity with zero errors.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0" y="3357562"/>
            <a:ext cx="22502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0" y="3700462"/>
            <a:ext cx="21431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Fully verified in QuestaSim with complete regression database signoff.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1E293B"/>
                </a:solidFill>
                <a:latin typeface="Inter SemiBold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3173015"/>
            <a:ext cx="5600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Inter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34965"/>
            <a:ext cx="53340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The 1 KB synchronous memory project was successfully implemented and verified using an advanced class-based SystemVerilog testbench. Complete functional closure and robust assertion coverage were achieved.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27027"/>
            <a:ext cx="5600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Inter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0" y="3488977"/>
            <a:ext cx="5048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Migration to Universal Verification Methodology (UVM).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915667"/>
            <a:ext cx="5048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Extension to multi-port memory architectures.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4342358"/>
            <a:ext cx="5048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Advanced constrained-random error injection scenarios.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522315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949005"/>
            <a:ext cx="2381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37569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1619</Words>
  <Application>Microsoft Office PowerPoint</Application>
  <PresentationFormat>Widescreen</PresentationFormat>
  <Paragraphs>211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Inter</vt:lpstr>
      <vt:lpstr>Inter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K</cp:lastModifiedBy>
  <cp:revision>2</cp:revision>
  <dcterms:created xsi:type="dcterms:W3CDTF">2013-01-27T09:14:16Z</dcterms:created>
  <dcterms:modified xsi:type="dcterms:W3CDTF">2026-09-01T08:32:40Z</dcterms:modified>
  <cp:category/>
</cp:coreProperties>
</file>